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71" r:id="rId10"/>
    <p:sldId id="273" r:id="rId11"/>
    <p:sldId id="269" r:id="rId12"/>
    <p:sldId id="274" r:id="rId13"/>
    <p:sldId id="276" r:id="rId14"/>
    <p:sldId id="261" r:id="rId15"/>
    <p:sldId id="26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7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85E1B-FAD5-4871-AB38-F04F40203DE7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AE807-DAD1-45C9-9EE7-D73E457F7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1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E807-DAD1-45C9-9EE7-D73E457F78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26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00EB8-0BA8-EBB1-32F5-28FE87A8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F21E4F-30CF-830F-7A7B-CB0F7918F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CCA63-814A-3073-24D7-F5C99D22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BCDC5C-0EA7-2706-9B0D-7F840BB17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1939A-E754-3974-11E3-ED3DAF90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95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B8900-4A81-F7F2-115A-9D7A48E2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83FE67-FDA3-39EC-606B-C593A77B5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B0B6FC-ABBE-9454-98FB-EF1ACFBA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36835-7E7E-1548-459D-69703656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1B74F-9407-7856-E4AA-D405CE81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34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0A2E8-3096-D284-1358-F3889B26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ED90F9-35A4-F677-8483-B492DC914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94EE0E-3C0C-BA9D-EDE8-14372A150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72B0ED-E325-6AE4-2F0A-6B458A58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0C272C-9947-9EF1-5EF8-4B705F9C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78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3FE4A-A9F9-C35A-6642-081C7E4E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3C1DF6-25A3-FEF9-745C-2071C5873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FB0709-8282-3472-05D2-EB9CF65A4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9F25D9-2998-8DF8-C9C9-A2C5A473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C49317-830E-87A9-7FAB-77228695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156F35-A664-22FE-DDB2-368A104F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70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03546-A559-9833-23FB-ED994377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17F04A-340B-E4EF-2D25-CB354FA16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BEFF46-7ADE-2BDE-E508-2979095FF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6C5FD6-8B3F-EBA5-354B-8B6F12802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AF47FF-66D9-8D2C-7661-4DFDDC88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8762F6-B293-F207-C609-623C3A49E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0074D3-0430-EF2D-9180-A3860AF3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2C26B9-2F1B-93ED-F973-FE67D852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2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CE7DB-7B08-E60A-4CFD-C450DFCA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06231A-274C-86AA-6A21-C401835B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1880AB-F43E-20DD-6F76-8A0228A7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857AD9-FCDF-3EFB-7C50-8E0B9D19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0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28B096-D253-A9CE-5C70-F738C62B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DFF2C5-2D15-CB63-4856-605313C5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F12559-E82A-590E-C66D-96A09A1D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34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5803D-1B93-4891-85C6-E6D51FE5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719DA3-4ACC-CB78-8040-FC7087DCC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12F38C-4362-804E-56D8-47E29B313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90EA2-650F-D45F-418C-A5C3BAE7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5C9FA3-D498-66A0-6F08-D84F8482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88E6EE-81F7-B01F-C820-0EF27F3A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66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74720-EB2E-08D6-7DD5-025F83BE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FD1261-D1DD-EB32-805A-A19538E24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15ECB8-4C45-B0DF-559E-A149E7F26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7B75F7-6AE6-3ADE-89DD-9A94C61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0941EA-13ED-8F2A-6B97-8717A546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A10D2C-C097-C912-FA4F-9FFE961B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778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BA0DD-22FB-4656-60CF-C205A1F3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0C2508-08CA-8340-CA95-0A4FF15C6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DCEBF3-1188-4846-7F6F-D83F95A5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BEB05-0202-F3B4-FF8A-324C79C7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143FD-0C1A-44B3-DF6F-41E23A2D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3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FDAE5F-915E-4D5C-CD63-E490034BB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A0FD8B-B055-353C-AA44-93419411E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CA8D8-E9A9-AA10-9365-06C10EB1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A97011-2BFF-AEED-AC02-14787615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8AD14-42E0-FCCA-EFB8-B0054AB0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25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3C31C9-9999-C780-A17B-2EA928D7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A1222E-2E30-3F14-005F-DD9F8FF3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885D8-CED5-73CA-2438-C2B028E99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AD4FA-6A37-4181-8DC3-79D9579A40FF}" type="datetimeFigureOut">
              <a:rPr lang="zh-CN" altLang="en-US" smtClean="0"/>
              <a:t>2022/12/2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921B1E-44D3-38B5-3A37-2101B29CF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34DD7-29FB-7C47-AD68-C538B6BF5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175FC-BE19-4A77-B081-D04CB985A5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42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D4D84-6811-B9CC-E878-BD236E698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dirty="0">
                <a:latin typeface="+mn-ea"/>
                <a:ea typeface="+mn-ea"/>
              </a:rPr>
              <a:t>择时策略</a:t>
            </a:r>
            <a:r>
              <a:rPr lang="en-US" altLang="zh-CN" sz="6600" dirty="0">
                <a:latin typeface="+mn-ea"/>
                <a:ea typeface="+mn-ea"/>
              </a:rPr>
              <a:t>-</a:t>
            </a:r>
            <a:r>
              <a:rPr lang="zh-CN" altLang="en-US" sz="6600" dirty="0">
                <a:latin typeface="+mn-ea"/>
                <a:ea typeface="+mn-ea"/>
              </a:rPr>
              <a:t>价量共振指标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E4D0EE-DD5F-AE72-F505-4F83DF26C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0638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量化金融小组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择时小组  吴智悦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5D37D2-62D7-38EF-A817-44E20874E5FD}"/>
              </a:ext>
            </a:extLst>
          </p:cNvPr>
          <p:cNvSpPr txBox="1"/>
          <p:nvPr/>
        </p:nvSpPr>
        <p:spPr>
          <a:xfrm>
            <a:off x="180108" y="6186056"/>
            <a:ext cx="6955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华创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成交量分析报告：另类价量共振指标的择时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</a:p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网址：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https://max.book118.com/html/2019/0222/8056004116002007.shtm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652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D84C6-65F6-00FB-DA08-13FB4F7C3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05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 指标：价量共振指标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0DEBC2-889E-A7CD-34E3-94D212A077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2000" b="1" dirty="0"/>
                  <a:t>1.1 </a:t>
                </a:r>
                <a:r>
                  <a:rPr lang="zh-CN" altLang="en-US" sz="2000" b="1" dirty="0"/>
                  <a:t>择时逻辑：</a:t>
                </a:r>
                <a:endParaRPr lang="en-US" altLang="zh-CN" sz="2000" b="1" dirty="0"/>
              </a:p>
              <a:p>
                <a:r>
                  <a:rPr lang="zh-CN" altLang="en-US" sz="2000" dirty="0"/>
                  <a:t>交易量指标</a:t>
                </a:r>
                <a:r>
                  <a:rPr lang="en-US" altLang="zh-CN" sz="2000" dirty="0"/>
                  <a:t>——</a:t>
                </a:r>
                <a:r>
                  <a:rPr lang="zh-CN" altLang="en-US" sz="2000" dirty="0"/>
                  <a:t>供求关系反应市场预期，需求量影响价格</a:t>
                </a:r>
                <a:endParaRPr lang="en-US" altLang="zh-CN" sz="2000" dirty="0"/>
              </a:p>
              <a:p>
                <a:r>
                  <a:rPr lang="zh-CN" altLang="en-US" sz="2000" dirty="0"/>
                  <a:t>进一步结合价格的变动，对买入和卖出信号进行反应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zh-CN" altLang="en-US" sz="2000" dirty="0"/>
                  <a:t>第一次分享的</a:t>
                </a:r>
                <a:r>
                  <a:rPr lang="en-US" altLang="zh-CN" sz="2000" dirty="0"/>
                  <a:t>RSRS</a:t>
                </a:r>
                <a:r>
                  <a:rPr lang="zh-CN" altLang="en-US" sz="2000" dirty="0"/>
                  <a:t>指标实际上是根据“价”结合“时”进行择时</a:t>
                </a:r>
                <a:endParaRPr lang="en-US" altLang="zh-CN" sz="2000" dirty="0"/>
              </a:p>
              <a:p>
                <a:r>
                  <a:rPr lang="zh-CN" altLang="en-US" sz="2000" dirty="0"/>
                  <a:t>本次分享的指标则基于“价”和“量”进行择时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（同样可以结合“时”进行市场划分进行选择）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b="1" dirty="0"/>
                  <a:t>1.2 </a:t>
                </a:r>
                <a:r>
                  <a:rPr lang="zh-CN" altLang="en-US" sz="2000" b="1" dirty="0"/>
                  <a:t>择时指标计算：</a:t>
                </a:r>
                <a:endParaRPr lang="en-US" altLang="zh-CN" sz="2000" b="1" dirty="0"/>
              </a:p>
              <a:p>
                <a:r>
                  <a:rPr lang="zh-CN" altLang="en-US" sz="2000" dirty="0"/>
                  <a:t>采用移动均线计算：价格取前</a:t>
                </a:r>
                <a:r>
                  <a:rPr lang="en-US" altLang="zh-CN" sz="2000" dirty="0"/>
                  <a:t>50</a:t>
                </a:r>
                <a:r>
                  <a:rPr lang="zh-CN" altLang="en-US" sz="2000" dirty="0"/>
                  <a:t>日收盘价均线（</a:t>
                </a:r>
                <a:r>
                  <a:rPr lang="en-US" altLang="zh-CN" sz="2000" dirty="0"/>
                  <a:t>BMA</a:t>
                </a:r>
                <a:r>
                  <a:rPr lang="zh-CN" altLang="en-US" sz="2000" dirty="0"/>
                  <a:t>）、交易量取</a:t>
                </a:r>
                <a:r>
                  <a:rPr lang="en-US" altLang="zh-CN" sz="2000" dirty="0"/>
                  <a:t>5</a:t>
                </a:r>
                <a:r>
                  <a:rPr lang="zh-CN" altLang="en-US" sz="2000" dirty="0"/>
                  <a:t>日和</a:t>
                </a:r>
                <a:r>
                  <a:rPr lang="en-US" altLang="zh-CN" sz="2000" dirty="0"/>
                  <a:t>100</a:t>
                </a:r>
                <a:r>
                  <a:rPr lang="zh-CN" altLang="en-US" sz="2000" dirty="0"/>
                  <a:t>日（</a:t>
                </a:r>
                <a:r>
                  <a:rPr lang="en-US" altLang="zh-CN" sz="2000" dirty="0"/>
                  <a:t>AMA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r>
                  <a:rPr lang="zh-CN" altLang="en-US" sz="2000" dirty="0"/>
                  <a:t>价量共振指标 </a:t>
                </a:r>
                <a:r>
                  <a:rPr lang="en-US" altLang="zh-CN" sz="2000" dirty="0"/>
                  <a:t>P_Q=</a:t>
                </a:r>
                <a:r>
                  <a:rPr lang="zh-CN" altLang="en-US" sz="2000" dirty="0"/>
                  <a:t>价能*量能</a:t>
                </a:r>
                <a:r>
                  <a:rPr lang="en-US" altLang="zh-CN" sz="2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𝐵𝑀𝐴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𝐵𝑀𝐴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Nb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）</m:t>
                        </m:r>
                      </m:den>
                    </m:f>
                    <m:r>
                      <a:rPr lang="zh-CN" altLang="en-US" sz="20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𝐴𝑀𝐴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_5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𝐴𝑀𝐴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_100</m:t>
                        </m:r>
                      </m:den>
                    </m:f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/>
                  <a:t>大于临界值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买入，小于临界值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卖出。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0DEBC2-889E-A7CD-34E3-94D212A07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C196182-D344-F659-8AB3-4D473EF0BF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5"/>
          <a:stretch/>
        </p:blipFill>
        <p:spPr>
          <a:xfrm>
            <a:off x="7693519" y="78361"/>
            <a:ext cx="3304832" cy="33595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A960F2-1296-A4C9-20FC-ECF93AA3AC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64" t="10745" r="4944" b="37980"/>
          <a:stretch/>
        </p:blipFill>
        <p:spPr>
          <a:xfrm rot="16200000">
            <a:off x="8717688" y="2544463"/>
            <a:ext cx="1399360" cy="330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900" b="1" dirty="0"/>
              <a:t>2.1 </a:t>
            </a:r>
            <a:r>
              <a:rPr lang="zh-CN" altLang="en-US" sz="1900" b="1" dirty="0"/>
              <a:t>数据概述</a:t>
            </a:r>
            <a:endParaRPr lang="en-US" altLang="zh-CN" sz="1900" b="1" dirty="0"/>
          </a:p>
          <a:p>
            <a:pPr marL="0" indent="0">
              <a:buNone/>
            </a:pPr>
            <a:br>
              <a:rPr lang="zh-CN" altLang="en-US" sz="1900" dirty="0"/>
            </a:b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采用 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2017-10-20 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至 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2022-11-28 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的申万指数数据；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其中申万各行业指数为购买标的、申万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A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指为对比基准</a:t>
            </a:r>
            <a:endParaRPr lang="en-US" altLang="zh-CN" sz="19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altLang="zh-CN" sz="19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zh-CN" sz="19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altLang="zh-CN" sz="19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训练数据为前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75%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的数据（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849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个交易日）</a:t>
            </a:r>
            <a:r>
              <a:rPr lang="en-US" altLang="zh-CN" sz="1900" dirty="0">
                <a:solidFill>
                  <a:srgbClr val="000000"/>
                </a:solidFill>
              </a:rPr>
              <a:t>2018-03-19</a:t>
            </a:r>
            <a:r>
              <a:rPr lang="zh-CN" altLang="en-US" sz="1900" dirty="0">
                <a:solidFill>
                  <a:srgbClr val="000000"/>
                </a:solidFill>
              </a:rPr>
              <a:t>至</a:t>
            </a:r>
            <a:r>
              <a:rPr lang="en-US" altLang="zh-CN" sz="1900" dirty="0">
                <a:solidFill>
                  <a:srgbClr val="000000"/>
                </a:solidFill>
              </a:rPr>
              <a:t>2021-09-09 </a:t>
            </a:r>
            <a:r>
              <a:rPr lang="zh-CN" altLang="en-US" sz="1900" dirty="0">
                <a:solidFill>
                  <a:srgbClr val="000000"/>
                </a:solidFill>
              </a:rPr>
              <a:t>，后</a:t>
            </a:r>
            <a:r>
              <a:rPr lang="en-US" altLang="zh-CN" sz="1900" dirty="0">
                <a:solidFill>
                  <a:srgbClr val="000000"/>
                </a:solidFill>
              </a:rPr>
              <a:t>25%</a:t>
            </a:r>
            <a:r>
              <a:rPr lang="zh-CN" altLang="en-US" sz="1900" dirty="0">
                <a:solidFill>
                  <a:srgbClr val="000000"/>
                </a:solidFill>
              </a:rPr>
              <a:t>的数据为测试数据（</a:t>
            </a:r>
            <a:r>
              <a:rPr lang="en-US" altLang="zh-CN" sz="1900" dirty="0">
                <a:solidFill>
                  <a:srgbClr val="000000"/>
                </a:solidFill>
              </a:rPr>
              <a:t>284</a:t>
            </a:r>
            <a:r>
              <a:rPr lang="zh-CN" altLang="en-US" sz="1900" dirty="0">
                <a:solidFill>
                  <a:srgbClr val="000000"/>
                </a:solidFill>
              </a:rPr>
              <a:t>个交易日）</a:t>
            </a:r>
            <a:endParaRPr lang="en-US" altLang="zh-CN" sz="1900" dirty="0">
              <a:solidFill>
                <a:srgbClr val="0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03D890-93F2-6B2A-269F-051010599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72"/>
          <a:stretch/>
        </p:blipFill>
        <p:spPr>
          <a:xfrm>
            <a:off x="796636" y="3330605"/>
            <a:ext cx="10598727" cy="10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2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4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900" b="1" dirty="0"/>
              <a:t>2.1 </a:t>
            </a:r>
            <a:r>
              <a:rPr lang="zh-CN" altLang="en-US" sz="1900" b="1" dirty="0"/>
              <a:t>数据概述</a:t>
            </a:r>
            <a:endParaRPr lang="en-US" altLang="zh-CN" sz="1900" b="1" dirty="0"/>
          </a:p>
          <a:p>
            <a:pPr marL="0" indent="0">
              <a:buNone/>
            </a:pPr>
            <a:br>
              <a:rPr lang="zh-CN" altLang="en-US" sz="1900" dirty="0"/>
            </a:b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采用 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2017-10-20 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至 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2022-11-28 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的申万指数数据；其中申万各行业指数为购买标的、申万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A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指和申万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300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数据为对比基准。</a:t>
            </a:r>
            <a:endParaRPr lang="en-US" altLang="zh-CN" sz="19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训练数据为前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75%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的数据（</a:t>
            </a:r>
            <a:r>
              <a:rPr lang="en-US" altLang="zh-CN" sz="1900" b="0" i="0" dirty="0">
                <a:solidFill>
                  <a:srgbClr val="000000"/>
                </a:solidFill>
                <a:effectLst/>
              </a:rPr>
              <a:t>850</a:t>
            </a:r>
            <a:r>
              <a:rPr lang="zh-CN" altLang="en-US" sz="1900" b="0" i="0" dirty="0">
                <a:solidFill>
                  <a:srgbClr val="000000"/>
                </a:solidFill>
                <a:effectLst/>
              </a:rPr>
              <a:t>个交易日）</a:t>
            </a:r>
            <a:r>
              <a:rPr lang="en-US" altLang="zh-CN" sz="1900" dirty="0">
                <a:solidFill>
                  <a:srgbClr val="000000"/>
                </a:solidFill>
              </a:rPr>
              <a:t>2018-03-19</a:t>
            </a:r>
            <a:r>
              <a:rPr lang="zh-CN" altLang="en-US" sz="1900" dirty="0">
                <a:solidFill>
                  <a:srgbClr val="000000"/>
                </a:solidFill>
              </a:rPr>
              <a:t>至</a:t>
            </a:r>
            <a:r>
              <a:rPr lang="en-US" altLang="zh-CN" sz="1900" dirty="0">
                <a:solidFill>
                  <a:srgbClr val="000000"/>
                </a:solidFill>
              </a:rPr>
              <a:t>2021-09-09 </a:t>
            </a:r>
            <a:r>
              <a:rPr lang="zh-CN" altLang="en-US" sz="1900" dirty="0">
                <a:solidFill>
                  <a:srgbClr val="000000"/>
                </a:solidFill>
              </a:rPr>
              <a:t>，后</a:t>
            </a:r>
            <a:r>
              <a:rPr lang="en-US" altLang="zh-CN" sz="1900" dirty="0">
                <a:solidFill>
                  <a:srgbClr val="000000"/>
                </a:solidFill>
              </a:rPr>
              <a:t>25%</a:t>
            </a:r>
            <a:r>
              <a:rPr lang="zh-CN" altLang="en-US" sz="1900" dirty="0">
                <a:solidFill>
                  <a:srgbClr val="000000"/>
                </a:solidFill>
              </a:rPr>
              <a:t>的数据为测试数据（</a:t>
            </a:r>
            <a:r>
              <a:rPr lang="en-US" altLang="zh-CN" sz="1900" dirty="0">
                <a:solidFill>
                  <a:srgbClr val="000000"/>
                </a:solidFill>
              </a:rPr>
              <a:t>283</a:t>
            </a:r>
            <a:r>
              <a:rPr lang="zh-CN" altLang="en-US" sz="1900" dirty="0">
                <a:solidFill>
                  <a:srgbClr val="000000"/>
                </a:solidFill>
              </a:rPr>
              <a:t>个交易日）</a:t>
            </a:r>
            <a:endParaRPr lang="en-US" altLang="zh-CN" sz="1900" dirty="0">
              <a:solidFill>
                <a:srgbClr val="0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8ADDBA-5234-4BCA-B076-AE9CF9B60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33" y="3808290"/>
            <a:ext cx="9242544" cy="25036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D2FEFF-DBDA-DAD7-A6F9-97E0332B7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410" y="101429"/>
            <a:ext cx="1759040" cy="665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4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900" b="1" dirty="0"/>
              <a:t>2.2 </a:t>
            </a:r>
            <a:r>
              <a:rPr lang="zh-CN" altLang="en-US" sz="1900" b="1" dirty="0"/>
              <a:t>指标计算</a:t>
            </a:r>
            <a:endParaRPr lang="en-US" altLang="zh-CN" sz="1900" b="1" dirty="0"/>
          </a:p>
          <a:p>
            <a:pPr marL="0" indent="0">
              <a:buNone/>
            </a:pPr>
            <a:endParaRPr lang="en-US" altLang="zh-CN" sz="19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F068A9-F5F7-D38E-ACAB-A71317C2D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660" y="1390144"/>
            <a:ext cx="8181140" cy="51027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FCE2CC4-B88A-7502-AADF-C5BBE9E5B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92" y="2582357"/>
            <a:ext cx="10308016" cy="32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900" b="1" dirty="0"/>
              <a:t>2.3 </a:t>
            </a:r>
            <a:r>
              <a:rPr lang="zh-CN" altLang="en-US" sz="1900" b="1" dirty="0"/>
              <a:t>交易点识别</a:t>
            </a:r>
            <a:endParaRPr lang="en-US" altLang="zh-CN" sz="1900" b="1" dirty="0"/>
          </a:p>
          <a:p>
            <a:pPr marL="0" indent="0">
              <a:buNone/>
            </a:pPr>
            <a:br>
              <a:rPr lang="zh-CN" altLang="en-US" sz="1900" dirty="0"/>
            </a:br>
            <a:endParaRPr lang="en-US" altLang="zh-CN" sz="1900" dirty="0">
              <a:solidFill>
                <a:srgbClr val="0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363EBF-5D54-AB9B-0D31-D5F85E63D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515" y="1690688"/>
            <a:ext cx="925098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08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9DD291-7BB4-3550-7A91-93EE9AC35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900" b="1" dirty="0"/>
                  <a:t>2.4 </a:t>
                </a:r>
                <a:r>
                  <a:rPr lang="zh-CN" altLang="en-US" sz="1900" b="1" dirty="0"/>
                  <a:t>参数调整</a:t>
                </a:r>
                <a:endParaRPr lang="en-US" altLang="zh-CN" sz="1900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1900" b="1" dirty="0"/>
              </a:p>
              <a:p>
                <a:pPr marL="0" indent="0">
                  <a:lnSpc>
                    <a:spcPts val="1800"/>
                  </a:lnSpc>
                  <a:buNone/>
                </a:pPr>
                <a:r>
                  <a:rPr lang="zh-CN" altLang="en-US" sz="1900" dirty="0">
                    <a:solidFill>
                      <a:srgbClr val="000000"/>
                    </a:solidFill>
                  </a:rPr>
                  <a:t>本次策略的可调参数有：</a:t>
                </a:r>
                <a:endParaRPr lang="en-US" altLang="zh-CN" sz="19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ts val="1800"/>
                  </a:lnSpc>
                  <a:buNone/>
                </a:pPr>
                <a:r>
                  <a:rPr lang="en-US" altLang="zh-CN" sz="1900" dirty="0">
                    <a:solidFill>
                      <a:srgbClr val="000000"/>
                    </a:solidFill>
                  </a:rPr>
                  <a:t>1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、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 P_Q=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价能*量能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𝐵𝑀𝐴</m:t>
                        </m:r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𝐵𝑀𝐴</m:t>
                        </m:r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Nb</m:t>
                        </m:r>
                        <m:r>
                          <a:rPr lang="zh-CN" altLang="en-US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den>
                    </m:f>
                    <m:r>
                      <a:rPr lang="zh-CN" altLang="en-US" sz="1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𝐴𝑀𝐴</m:t>
                        </m:r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_5</m:t>
                        </m:r>
                      </m:num>
                      <m:den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𝐴𝑀𝐴</m:t>
                        </m:r>
                        <m:r>
                          <a:rPr lang="en-US" altLang="zh-CN" sz="1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_100</m:t>
                        </m:r>
                      </m:den>
                    </m:f>
                  </m:oMath>
                </a14:m>
                <a:r>
                  <a:rPr lang="zh-CN" altLang="en-US" sz="1900" dirty="0">
                    <a:solidFill>
                      <a:srgbClr val="000000"/>
                    </a:solidFill>
                  </a:rPr>
                  <a:t>中的价格均线长度、价格间隔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Nb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、交易量长短均线的长度</a:t>
                </a:r>
                <a:endParaRPr lang="en-US" altLang="zh-CN" sz="19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ts val="1800"/>
                  </a:lnSpc>
                  <a:buNone/>
                </a:pPr>
                <a:r>
                  <a:rPr lang="en-US" altLang="zh-CN" sz="1900" dirty="0">
                    <a:solidFill>
                      <a:srgbClr val="000000"/>
                    </a:solidFill>
                  </a:rPr>
                  <a:t>2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、交易阈值：买入阈值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U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和卖出阈值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D</a:t>
                </a:r>
              </a:p>
              <a:p>
                <a:pPr marL="0" indent="0">
                  <a:lnSpc>
                    <a:spcPts val="1800"/>
                  </a:lnSpc>
                  <a:buNone/>
                </a:pPr>
                <a:endParaRPr lang="en-US" altLang="zh-CN" sz="19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ts val="1800"/>
                  </a:lnSpc>
                  <a:buNone/>
                </a:pPr>
                <a:r>
                  <a:rPr lang="zh-CN" altLang="en-US" sz="1900" dirty="0">
                    <a:solidFill>
                      <a:srgbClr val="000000"/>
                    </a:solidFill>
                  </a:rPr>
                  <a:t>本次仅对交易阈值 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(U,D) 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进行调整</a:t>
                </a:r>
                <a:endParaRPr lang="en-US" altLang="zh-CN" sz="19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ts val="1800"/>
                  </a:lnSpc>
                  <a:buNone/>
                </a:pPr>
                <a:r>
                  <a:rPr lang="zh-CN" altLang="en-US" sz="1900" dirty="0">
                    <a:solidFill>
                      <a:srgbClr val="000000"/>
                    </a:solidFill>
                  </a:rPr>
                  <a:t>其余参数采用研报中使用的数值：分别是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5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日交易量均线、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100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日交易量均线、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50</a:t>
                </a:r>
                <a:r>
                  <a:rPr lang="zh-CN" altLang="en-US" sz="1900" dirty="0">
                    <a:solidFill>
                      <a:srgbClr val="000000"/>
                    </a:solidFill>
                  </a:rPr>
                  <a:t>日价格均线、</a:t>
                </a:r>
                <a:r>
                  <a:rPr lang="en-US" altLang="zh-CN" sz="1900" dirty="0">
                    <a:solidFill>
                      <a:srgbClr val="000000"/>
                    </a:solidFill>
                  </a:rPr>
                  <a:t> Nb=3</a:t>
                </a:r>
                <a:br>
                  <a:rPr lang="zh-CN" altLang="en-US" sz="1900" dirty="0"/>
                </a:br>
                <a:endParaRPr lang="en-US" altLang="zh-CN" sz="19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9DD291-7BB4-3550-7A91-93EE9AC35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74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900" b="1" dirty="0"/>
              <a:t>2.4 </a:t>
            </a:r>
            <a:r>
              <a:rPr lang="zh-CN" altLang="en-US" sz="1900" b="1" dirty="0"/>
              <a:t>参数调整</a:t>
            </a: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b="1" dirty="0">
                <a:solidFill>
                  <a:srgbClr val="000000"/>
                </a:solidFill>
              </a:rPr>
              <a:t>(U,D) =(1.15,1.15)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900" b="1" dirty="0">
                <a:solidFill>
                  <a:srgbClr val="000000"/>
                </a:solidFill>
              </a:rPr>
              <a:t>【</a:t>
            </a:r>
            <a:r>
              <a:rPr lang="zh-CN" altLang="en-US" sz="1900" b="1" dirty="0">
                <a:solidFill>
                  <a:srgbClr val="000000"/>
                </a:solidFill>
              </a:rPr>
              <a:t>研报原始参数</a:t>
            </a:r>
            <a:r>
              <a:rPr lang="en-US" altLang="zh-CN" sz="1900" b="1" dirty="0">
                <a:solidFill>
                  <a:srgbClr val="000000"/>
                </a:solidFill>
              </a:rPr>
              <a:t>】</a:t>
            </a: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1D5CB5-E457-C5ED-9FD5-1D1774D13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34" y="1374744"/>
            <a:ext cx="8134766" cy="52530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B357998-39A2-077D-ECFD-18630C3C9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69" y="3441701"/>
            <a:ext cx="2138151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58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900" b="1" dirty="0"/>
              <a:t>2.4 </a:t>
            </a:r>
            <a:r>
              <a:rPr lang="zh-CN" altLang="en-US" sz="1900" b="1" dirty="0"/>
              <a:t>参数调整</a:t>
            </a:r>
            <a:endParaRPr lang="en-US" altLang="zh-CN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900" dirty="0">
                <a:solidFill>
                  <a:srgbClr val="000000"/>
                </a:solidFill>
              </a:rPr>
              <a:t>(U,D) =(1.25,1.25)     (U,D) =(1.20,1.20)       </a:t>
            </a:r>
            <a:r>
              <a:rPr lang="en-US" altLang="zh-CN" sz="2000" dirty="0">
                <a:solidFill>
                  <a:srgbClr val="000000"/>
                </a:solidFill>
              </a:rPr>
              <a:t>(</a:t>
            </a:r>
            <a:r>
              <a:rPr lang="en-US" altLang="zh-CN" sz="1900" dirty="0">
                <a:solidFill>
                  <a:srgbClr val="000000"/>
                </a:solidFill>
              </a:rPr>
              <a:t>U,D) =(1.15,1.15)     (U,D) =(1.1,1.1)    (U,D) =(1.05,1.05</a:t>
            </a:r>
            <a:r>
              <a:rPr lang="en-US" altLang="zh-CN" sz="2000" dirty="0">
                <a:solidFill>
                  <a:srgbClr val="000000"/>
                </a:solidFill>
              </a:rPr>
              <a:t>)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7E42540-234F-539F-9741-403DA767D8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7"/>
          <a:stretch/>
        </p:blipFill>
        <p:spPr>
          <a:xfrm>
            <a:off x="5194641" y="2717078"/>
            <a:ext cx="1960386" cy="278079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A55EF43-7ABA-31FD-74F9-6252ABF25F55}"/>
              </a:ext>
            </a:extLst>
          </p:cNvPr>
          <p:cNvSpPr txBox="1"/>
          <p:nvPr/>
        </p:nvSpPr>
        <p:spPr>
          <a:xfrm>
            <a:off x="3530600" y="1153183"/>
            <a:ext cx="6096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</a:t>
            </a:r>
            <a:endParaRPr lang="en-US" altLang="zh-CN" sz="1800" b="1" dirty="0">
              <a:solidFill>
                <a:srgbClr val="0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5272E8-E5C6-D9AD-B032-B4CCFB1B65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21"/>
          <a:stretch/>
        </p:blipFill>
        <p:spPr>
          <a:xfrm>
            <a:off x="837285" y="2798087"/>
            <a:ext cx="2014581" cy="26187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AB9AD6-51DE-F2BE-9ED5-6E2C76EFD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984" y="2798087"/>
            <a:ext cx="2080823" cy="27271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22ADBB-CED4-B4FD-24F9-7003C354B22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"/>
          <a:stretch/>
        </p:blipFill>
        <p:spPr>
          <a:xfrm>
            <a:off x="7309261" y="2845672"/>
            <a:ext cx="1847755" cy="26187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AACED95-650F-B2D0-B422-3534A7C14E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364" y="2845672"/>
            <a:ext cx="1950361" cy="257831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2ABD106-3709-A64C-50A5-7E7957F90D24}"/>
              </a:ext>
            </a:extLst>
          </p:cNvPr>
          <p:cNvSpPr txBox="1"/>
          <p:nvPr/>
        </p:nvSpPr>
        <p:spPr>
          <a:xfrm>
            <a:off x="950474" y="5704817"/>
            <a:ext cx="9067890" cy="1068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在（</a:t>
            </a:r>
            <a:r>
              <a:rPr lang="en-US" altLang="zh-CN" dirty="0"/>
              <a:t>1.15,1.15</a:t>
            </a:r>
            <a:r>
              <a:rPr lang="zh-CN" altLang="en-US" dirty="0"/>
              <a:t>）最小值取到最大，波动最小，同时最大值也相对较大。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在（</a:t>
            </a:r>
            <a:r>
              <a:rPr lang="en-US" altLang="zh-CN" dirty="0"/>
              <a:t>1.20</a:t>
            </a:r>
            <a:r>
              <a:rPr lang="zh-CN" altLang="en-US" dirty="0"/>
              <a:t>，</a:t>
            </a:r>
            <a:r>
              <a:rPr lang="en-US" altLang="zh-CN" dirty="0"/>
              <a:t>1.15</a:t>
            </a:r>
            <a:r>
              <a:rPr lang="zh-CN" altLang="en-US" dirty="0"/>
              <a:t>）</a:t>
            </a:r>
            <a:r>
              <a:rPr lang="en-US" altLang="zh-CN" dirty="0"/>
              <a:t>- </a:t>
            </a:r>
            <a:r>
              <a:rPr lang="en-US" altLang="zh-CN" sz="1800" dirty="0">
                <a:solidFill>
                  <a:srgbClr val="000000"/>
                </a:solidFill>
              </a:rPr>
              <a:t>(1.05,1.05) </a:t>
            </a:r>
            <a:r>
              <a:rPr lang="zh-CN" altLang="en-US" dirty="0"/>
              <a:t>区间最大值有所提升，应当存在峰值，进一步细化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0593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900" b="1" dirty="0"/>
              <a:t>2.4 </a:t>
            </a:r>
            <a:r>
              <a:rPr lang="zh-CN" altLang="en-US" sz="1900" b="1" dirty="0"/>
              <a:t>参数调整</a:t>
            </a:r>
            <a:endParaRPr lang="en-US" altLang="zh-CN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(</a:t>
            </a:r>
            <a:r>
              <a:rPr lang="en-US" altLang="zh-CN" sz="1900" dirty="0">
                <a:solidFill>
                  <a:srgbClr val="000000"/>
                </a:solidFill>
              </a:rPr>
              <a:t>U,D) =(1.15,1.15)  (U,D) =(1.13,1.13)   (U,D) =(1.1,1.1)    (U,D) =(1.07,1.07</a:t>
            </a:r>
            <a:r>
              <a:rPr lang="en-US" altLang="zh-CN" sz="2000" dirty="0">
                <a:solidFill>
                  <a:srgbClr val="000000"/>
                </a:solidFill>
              </a:rPr>
              <a:t>)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7E42540-234F-539F-9741-403DA767D8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7"/>
          <a:stretch/>
        </p:blipFill>
        <p:spPr>
          <a:xfrm>
            <a:off x="882254" y="2746760"/>
            <a:ext cx="1960386" cy="278079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A55EF43-7ABA-31FD-74F9-6252ABF25F55}"/>
              </a:ext>
            </a:extLst>
          </p:cNvPr>
          <p:cNvSpPr txBox="1"/>
          <p:nvPr/>
        </p:nvSpPr>
        <p:spPr>
          <a:xfrm>
            <a:off x="3530600" y="1153183"/>
            <a:ext cx="6096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</a:t>
            </a:r>
            <a:endParaRPr lang="en-US" altLang="zh-CN" sz="1800" b="1" dirty="0">
              <a:solidFill>
                <a:srgbClr val="00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22ADBB-CED4-B4FD-24F9-7003C354B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181" y="2884594"/>
            <a:ext cx="1947101" cy="261877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2ABD106-3709-A64C-50A5-7E7957F90D24}"/>
              </a:ext>
            </a:extLst>
          </p:cNvPr>
          <p:cNvSpPr txBox="1"/>
          <p:nvPr/>
        </p:nvSpPr>
        <p:spPr>
          <a:xfrm>
            <a:off x="936722" y="5809106"/>
            <a:ext cx="9067890" cy="40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尽管（</a:t>
            </a:r>
            <a:r>
              <a:rPr lang="en-US" altLang="zh-CN" dirty="0"/>
              <a:t>1.1,1.1</a:t>
            </a:r>
            <a:r>
              <a:rPr lang="zh-CN" altLang="en-US" dirty="0"/>
              <a:t>）最大值值大，但是其最小值下降过快。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124CD9-424B-3591-034D-0869AA011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387" y="2817912"/>
            <a:ext cx="1903047" cy="26384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38DC767-30A3-2FC2-3554-894CAAE2F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029" y="2921738"/>
            <a:ext cx="2049938" cy="256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87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900" b="1" dirty="0"/>
              <a:t>2.4 </a:t>
            </a:r>
            <a:r>
              <a:rPr lang="zh-CN" altLang="en-US" sz="1900" b="1" dirty="0"/>
              <a:t>参数调整</a:t>
            </a: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900" dirty="0">
                <a:solidFill>
                  <a:srgbClr val="000000"/>
                </a:solidFill>
              </a:rPr>
              <a:t>如果调整 </a:t>
            </a:r>
            <a:r>
              <a:rPr lang="en-US" altLang="zh-CN" sz="1900" dirty="0">
                <a:solidFill>
                  <a:srgbClr val="000000"/>
                </a:solidFill>
              </a:rPr>
              <a:t>U!=D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(U,D) =(1.15,1.15)            </a:t>
            </a:r>
            <a:r>
              <a:rPr lang="en-US" altLang="zh-CN" sz="1900" dirty="0">
                <a:solidFill>
                  <a:srgbClr val="000000"/>
                </a:solidFill>
              </a:rPr>
              <a:t>(U,D) =(1.15,1.10)           </a:t>
            </a:r>
            <a:r>
              <a:rPr lang="en-US" altLang="zh-CN" sz="2000" dirty="0">
                <a:solidFill>
                  <a:srgbClr val="000000"/>
                </a:solidFill>
              </a:rPr>
              <a:t>(U,D) =(1.20,1.15)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F0ADC7C-88FE-0AC6-DE04-2DFA2A753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00" y="3156178"/>
            <a:ext cx="2093891" cy="292480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D9FD298-089A-2662-1BB1-9A6D84198481}"/>
              </a:ext>
            </a:extLst>
          </p:cNvPr>
          <p:cNvSpPr txBox="1"/>
          <p:nvPr/>
        </p:nvSpPr>
        <p:spPr>
          <a:xfrm>
            <a:off x="838199" y="6176963"/>
            <a:ext cx="411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最大值，最小值表现都不如</a:t>
            </a:r>
            <a:r>
              <a:rPr lang="en-US" altLang="zh-CN" dirty="0"/>
              <a:t>U=D</a:t>
            </a:r>
            <a:r>
              <a:rPr lang="zh-CN" altLang="en-US" dirty="0"/>
              <a:t>的情况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F71D071-EB5A-1287-DD7B-E688132B7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86" y="3117225"/>
            <a:ext cx="2152082" cy="30027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7E42540-234F-539F-9741-403DA767D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3" y="3156178"/>
            <a:ext cx="2138151" cy="28829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A55EF43-7ABA-31FD-74F9-6252ABF25F55}"/>
              </a:ext>
            </a:extLst>
          </p:cNvPr>
          <p:cNvSpPr txBox="1"/>
          <p:nvPr/>
        </p:nvSpPr>
        <p:spPr>
          <a:xfrm>
            <a:off x="3530600" y="1153183"/>
            <a:ext cx="6096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</a:t>
            </a:r>
            <a:endParaRPr lang="en-US" altLang="zh-CN" sz="1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11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900" b="1" dirty="0"/>
              <a:t>2.4 </a:t>
            </a:r>
            <a:r>
              <a:rPr lang="zh-CN" altLang="en-US" sz="1900" b="1" dirty="0"/>
              <a:t>参数调整</a:t>
            </a: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900" dirty="0">
                <a:solidFill>
                  <a:srgbClr val="000000"/>
                </a:solidFill>
              </a:rPr>
              <a:t>如果调整 </a:t>
            </a:r>
            <a:r>
              <a:rPr lang="en-US" altLang="zh-CN" sz="1900" dirty="0">
                <a:solidFill>
                  <a:srgbClr val="000000"/>
                </a:solidFill>
              </a:rPr>
              <a:t>U!=D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(U,D) =(1.10,1.10)            </a:t>
            </a:r>
            <a:r>
              <a:rPr lang="en-US" altLang="zh-CN" sz="1900" dirty="0">
                <a:solidFill>
                  <a:srgbClr val="000000"/>
                </a:solidFill>
              </a:rPr>
              <a:t>(U,D) =(1.15,1.10)           </a:t>
            </a:r>
            <a:r>
              <a:rPr lang="en-US" altLang="zh-CN" sz="2000" dirty="0">
                <a:solidFill>
                  <a:srgbClr val="000000"/>
                </a:solidFill>
              </a:rPr>
              <a:t>(U,D) =(1.10,1.05)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19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F0ADC7C-88FE-0AC6-DE04-2DFA2A753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00" y="3156178"/>
            <a:ext cx="2093891" cy="292480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D9FD298-089A-2662-1BB1-9A6D84198481}"/>
              </a:ext>
            </a:extLst>
          </p:cNvPr>
          <p:cNvSpPr txBox="1"/>
          <p:nvPr/>
        </p:nvSpPr>
        <p:spPr>
          <a:xfrm>
            <a:off x="838199" y="6176963"/>
            <a:ext cx="6421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最大值，最小值表现不如</a:t>
            </a:r>
            <a:r>
              <a:rPr lang="en-US" altLang="zh-CN" dirty="0"/>
              <a:t>U=D</a:t>
            </a:r>
            <a:r>
              <a:rPr lang="zh-CN" altLang="en-US" dirty="0"/>
              <a:t>的情况，但是波动率有所降低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55EF43-7ABA-31FD-74F9-6252ABF25F55}"/>
              </a:ext>
            </a:extLst>
          </p:cNvPr>
          <p:cNvSpPr txBox="1"/>
          <p:nvPr/>
        </p:nvSpPr>
        <p:spPr>
          <a:xfrm>
            <a:off x="3530600" y="1153183"/>
            <a:ext cx="6096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</a:t>
            </a:r>
            <a:endParaRPr lang="en-US" altLang="zh-CN" sz="1800" b="1" dirty="0">
              <a:solidFill>
                <a:srgbClr val="00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3386B1-4717-F369-B4AA-455CD542A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36" y="3225824"/>
            <a:ext cx="2093891" cy="28162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E6F7E8-C154-E050-E678-DBC5C7C9D5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892" y="3176569"/>
            <a:ext cx="2225920" cy="286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7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900" b="1" dirty="0"/>
              <a:t>2.4 </a:t>
            </a:r>
            <a:r>
              <a:rPr lang="zh-CN" altLang="en-US" sz="1900" b="1" dirty="0"/>
              <a:t>参数调整发现</a:t>
            </a:r>
            <a:endParaRPr lang="en-US" altLang="zh-CN" sz="1900" b="1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/>
              <a:t>在调整参数的过程中发现，在不同行业间数据表现存在差异。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r>
              <a:rPr lang="zh-CN" altLang="en-US" sz="1800" dirty="0"/>
              <a:t>总是相对较好的数据是：</a:t>
            </a:r>
            <a:r>
              <a:rPr lang="en-US" altLang="zh-CN" sz="1800" dirty="0"/>
              <a:t>801010</a:t>
            </a:r>
            <a:r>
              <a:rPr lang="zh-CN" altLang="en-US" sz="1800" dirty="0"/>
              <a:t>（农林牧渔） </a:t>
            </a:r>
            <a:r>
              <a:rPr lang="en-US" altLang="zh-CN" sz="1800" dirty="0"/>
              <a:t>801890</a:t>
            </a:r>
            <a:r>
              <a:rPr lang="zh-CN" altLang="en-US" sz="1800" dirty="0"/>
              <a:t> （机械设备）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r>
              <a:rPr lang="zh-CN" altLang="en-US" sz="1800" dirty="0"/>
              <a:t>随参数波动比较大有：</a:t>
            </a:r>
            <a:r>
              <a:rPr lang="en-US" altLang="zh-CN" sz="1800" dirty="0"/>
              <a:t>801210</a:t>
            </a:r>
            <a:r>
              <a:rPr lang="zh-CN" altLang="en-US" sz="1800" dirty="0"/>
              <a:t>（社会服务）</a:t>
            </a:r>
            <a:r>
              <a:rPr lang="en-US" altLang="zh-CN" sz="1800" dirty="0"/>
              <a:t>801040</a:t>
            </a:r>
            <a:r>
              <a:rPr lang="zh-CN" altLang="en-US" sz="1800" dirty="0"/>
              <a:t> （钢铁） </a:t>
            </a:r>
            <a:r>
              <a:rPr lang="en-US" altLang="zh-CN" sz="1800" dirty="0"/>
              <a:t>801780</a:t>
            </a:r>
            <a:r>
              <a:rPr lang="zh-CN" altLang="en-US" sz="1800" dirty="0"/>
              <a:t>（银行）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r>
              <a:rPr lang="zh-CN" altLang="en-US" sz="1800" dirty="0"/>
              <a:t>表现一直较差</a:t>
            </a:r>
            <a:r>
              <a:rPr lang="en-US" altLang="zh-CN" sz="1800" dirty="0"/>
              <a:t>801170</a:t>
            </a:r>
            <a:r>
              <a:rPr lang="zh-CN" altLang="en-US" sz="1800" dirty="0"/>
              <a:t>（通信）</a:t>
            </a:r>
            <a:endParaRPr lang="en-US" altLang="zh-CN" sz="18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55EF43-7ABA-31FD-74F9-6252ABF25F55}"/>
              </a:ext>
            </a:extLst>
          </p:cNvPr>
          <p:cNvSpPr txBox="1"/>
          <p:nvPr/>
        </p:nvSpPr>
        <p:spPr>
          <a:xfrm>
            <a:off x="3530600" y="1153183"/>
            <a:ext cx="6096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</a:t>
            </a:r>
            <a:endParaRPr lang="en-US" altLang="zh-CN" sz="1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56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策略结果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测试集结果：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1800" dirty="0"/>
              <a:t>最后的参数选择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(U,D) =(1.15,1.15) </a:t>
            </a: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4B5673-9E32-310D-684F-47168B3510F5}"/>
              </a:ext>
            </a:extLst>
          </p:cNvPr>
          <p:cNvSpPr txBox="1"/>
          <p:nvPr/>
        </p:nvSpPr>
        <p:spPr>
          <a:xfrm>
            <a:off x="3047440" y="3244334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4B4134-88E3-40D6-3B92-DD74A472C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23" y="827790"/>
            <a:ext cx="8638713" cy="55717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974B099-E56E-E746-2CBC-3D8F3BA11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850" y="0"/>
            <a:ext cx="2633241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110222-A2DF-55BC-C065-14B2BC1B8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53" y="3337628"/>
            <a:ext cx="10569388" cy="269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8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07D4B-31B3-7931-6611-29EE4B1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补充说明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DD291-7BB4-3550-7A91-93EE9AC3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成交量指标还可以考虑使用</a:t>
            </a:r>
            <a:r>
              <a:rPr lang="en-US" altLang="zh-CN" dirty="0"/>
              <a:t>OBV</a:t>
            </a:r>
            <a:r>
              <a:rPr lang="zh-CN" altLang="en-US" dirty="0"/>
              <a:t>指标等</a:t>
            </a:r>
            <a:endParaRPr lang="en-US" altLang="zh-CN" dirty="0"/>
          </a:p>
          <a:p>
            <a:r>
              <a:rPr lang="zh-CN" altLang="en-US" dirty="0"/>
              <a:t>可以结合市场的空多头进行进一步细分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035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834</Words>
  <Application>Microsoft Office PowerPoint</Application>
  <PresentationFormat>宽屏</PresentationFormat>
  <Paragraphs>95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仿宋</vt:lpstr>
      <vt:lpstr>黑体</vt:lpstr>
      <vt:lpstr>Arial</vt:lpstr>
      <vt:lpstr>Cambria Math</vt:lpstr>
      <vt:lpstr>Office 主题​​</vt:lpstr>
      <vt:lpstr>择时策略-价量共振指标</vt:lpstr>
      <vt:lpstr>1 指标：价量共振指标</vt:lpstr>
      <vt:lpstr>2 策略实现</vt:lpstr>
      <vt:lpstr>2 策略实现</vt:lpstr>
      <vt:lpstr>2 策略实现</vt:lpstr>
      <vt:lpstr>2 策略实现</vt:lpstr>
      <vt:lpstr>2 策略实现</vt:lpstr>
      <vt:lpstr>2 策略实现</vt:lpstr>
      <vt:lpstr>2 策略实现</vt:lpstr>
      <vt:lpstr>2 策略实现</vt:lpstr>
      <vt:lpstr>2 策略实现</vt:lpstr>
      <vt:lpstr>2 策略实现</vt:lpstr>
      <vt:lpstr>2 策略实现</vt:lpstr>
      <vt:lpstr>3 策略结果</vt:lpstr>
      <vt:lpstr>4 补充说明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择时策略-价量共振指标</dc:title>
  <dc:creator>Cheryl</dc:creator>
  <cp:lastModifiedBy>Cheryl</cp:lastModifiedBy>
  <cp:revision>71</cp:revision>
  <dcterms:created xsi:type="dcterms:W3CDTF">2022-12-02T02:09:57Z</dcterms:created>
  <dcterms:modified xsi:type="dcterms:W3CDTF">2022-12-02T13:42:57Z</dcterms:modified>
</cp:coreProperties>
</file>